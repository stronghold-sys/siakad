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6C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45920"/>
            <a:ext cx="10820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Outfit"/>
              </a:defRPr>
            </a:pPr>
            <a:r>
              <a:t>PENGEMBANGAN APLIKASI CRUD SIAKAD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  <a:latin typeface="Outfit"/>
              </a:defRPr>
            </a:pPr>
            <a:r>
              <a:t>Berbasis Laravel dengan Relasi Database, Server-Side Validation, &amp; Glassmorphism UI</a:t>
            </a:r>
          </a:p>
          <a:p>
            <a:br/>
            <a:pPr>
              <a:spcBef>
                <a:spcPts val="3600"/>
              </a:spcBef>
              <a:defRPr sz="1600">
                <a:solidFill>
                  <a:srgbClr val="C8E6FA"/>
                </a:solidFill>
                <a:latin typeface="Calibri"/>
              </a:defRPr>
            </a:pPr>
            <a:r>
              <a:t>Tugas Mandiri/Kelompok — Rekayasa Web Pertemuan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1E28"/>
                </a:solidFill>
                <a:latin typeface="Outfit"/>
              </a:defRPr>
            </a:pPr>
            <a:r>
              <a:t>Anggota Kelompok / Profil Pengembang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1B1E28"/>
                </a:solidFill>
                <a:latin typeface="Calibri"/>
              </a:defRPr>
            </a:pPr>
            <a:r>
              <a:t>Aplikasi ini dikembangkan oleh kelompok mahasiswa Rekayasa Web:</a:t>
            </a:r>
          </a:p>
          <a:p>
            <a:pPr>
              <a:spcBef>
                <a:spcPts val="800"/>
              </a:spcBef>
              <a:defRPr sz="2000" b="1">
                <a:solidFill>
                  <a:srgbClr val="0286C3"/>
                </a:solidFill>
                <a:latin typeface="Calibri"/>
              </a:defRPr>
            </a:pPr>
            <a:r>
              <a:t>1. Mahasiswa 1 (NIM: xxxxxxxx) - Backend Developer &amp; DB Designer</a:t>
            </a:r>
          </a:p>
          <a:p>
            <a:pPr>
              <a:spcBef>
                <a:spcPts val="800"/>
              </a:spcBef>
              <a:defRPr sz="2000" b="1">
                <a:solidFill>
                  <a:srgbClr val="0286C3"/>
                </a:solidFill>
                <a:latin typeface="Calibri"/>
              </a:defRPr>
            </a:pPr>
            <a:r>
              <a:t>2. Mahasiswa 2 (NIM: xxxxxxxx) - Frontend UI Designer &amp; Glassmorphism Styling</a:t>
            </a:r>
          </a:p>
          <a:p>
            <a:pPr>
              <a:spcBef>
                <a:spcPts val="800"/>
              </a:spcBef>
              <a:defRPr sz="2000" b="1">
                <a:solidFill>
                  <a:srgbClr val="0286C3"/>
                </a:solidFill>
                <a:latin typeface="Calibri"/>
              </a:defRPr>
            </a:pPr>
            <a:r>
              <a:t>3. Mahasiswa 3 (NIM: xxxxxxxx) - Documentation &amp; QA Specialist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1E28"/>
                </a:solidFill>
                <a:latin typeface="Outfit"/>
              </a:defRPr>
            </a:pPr>
            <a:r>
              <a:t>Agenda Diskusi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1B1E28"/>
                </a:solidFill>
                <a:latin typeface="Outfit"/>
              </a:defRPr>
            </a:pPr>
            <a:r>
              <a:t>1. Latar Belakang &amp; Pemilihan Framework PHP</a:t>
            </a:r>
          </a:p>
          <a:p>
            <a:pPr>
              <a:spcBef>
                <a:spcPts val="1000"/>
              </a:spcBef>
              <a:defRPr sz="2000">
                <a:solidFill>
                  <a:srgbClr val="1B1E28"/>
                </a:solidFill>
                <a:latin typeface="Outfit"/>
              </a:defRPr>
            </a:pPr>
            <a:r>
              <a:t>2. Kelebihan dan Kekurangan Laravel</a:t>
            </a:r>
          </a:p>
          <a:p>
            <a:pPr>
              <a:spcBef>
                <a:spcPts val="1000"/>
              </a:spcBef>
              <a:defRPr sz="2000">
                <a:solidFill>
                  <a:srgbClr val="1B1E28"/>
                </a:solidFill>
                <a:latin typeface="Outfit"/>
              </a:defRPr>
            </a:pPr>
            <a:r>
              <a:t>3. Arsitektur &amp; Skema Database (Relasi 1-to-Many)</a:t>
            </a:r>
          </a:p>
          <a:p>
            <a:pPr>
              <a:spcBef>
                <a:spcPts val="1000"/>
              </a:spcBef>
              <a:defRPr sz="2000">
                <a:solidFill>
                  <a:srgbClr val="1B1E28"/>
                </a:solidFill>
                <a:latin typeface="Outfit"/>
              </a:defRPr>
            </a:pPr>
            <a:r>
              <a:t>4. Implementasi Validasi Server-side (Wajib) &amp; Kebijakan Keamanan</a:t>
            </a:r>
          </a:p>
          <a:p>
            <a:pPr>
              <a:spcBef>
                <a:spcPts val="1000"/>
              </a:spcBef>
              <a:defRPr sz="2000">
                <a:solidFill>
                  <a:srgbClr val="1B1E28"/>
                </a:solidFill>
                <a:latin typeface="Outfit"/>
              </a:defRPr>
            </a:pPr>
            <a:r>
              <a:t>5. Dokumentasi Demo Antarmuka (Dashboard &amp; CRUD Mahasiswa)</a:t>
            </a:r>
          </a:p>
          <a:p>
            <a:pPr>
              <a:spcBef>
                <a:spcPts val="1000"/>
              </a:spcBef>
              <a:defRPr sz="2000">
                <a:solidFill>
                  <a:srgbClr val="1B1E28"/>
                </a:solidFill>
                <a:latin typeface="Outfit"/>
              </a:defRPr>
            </a:pPr>
            <a:r>
              <a:t>6. Kesimpulan &amp; Tanya Jawab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1E28"/>
                </a:solidFill>
                <a:latin typeface="Outfit"/>
              </a:defRPr>
            </a:pPr>
            <a:r>
              <a:t>Alasan Pemilihan Laravel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i="1">
                <a:solidFill>
                  <a:srgbClr val="536171"/>
                </a:solidFill>
                <a:latin typeface="Calibri"/>
              </a:defRPr>
            </a:pPr>
            <a:r>
              <a:t>Mengapa memilih Laravel untuk implementasi tugas CRUD SIAKAD?</a:t>
            </a:r>
          </a:p>
          <a:p>
            <a:pPr>
              <a:spcBef>
                <a:spcPts val="800"/>
              </a:spcBef>
            </a:pPr>
            <a:r>
              <a:rPr b="1" sz="1800">
                <a:solidFill>
                  <a:srgbClr val="0286C3"/>
                </a:solidFill>
                <a:latin typeface="Calibri"/>
              </a:rPr>
              <a:t>Arsitektur MVC yang Sangat Bersih:</a:t>
            </a:r>
            <a:r>
              <a:rPr sz="1800">
                <a:solidFill>
                  <a:srgbClr val="1B1E28"/>
                </a:solidFill>
                <a:latin typeface="Calibri"/>
              </a:rPr>
              <a:t> Memisahkan model database, kontrol logika, dan representasi tampilan Blade.</a:t>
            </a:r>
          </a:p>
          <a:p>
            <a:pPr>
              <a:spcBef>
                <a:spcPts val="800"/>
              </a:spcBef>
            </a:pPr>
            <a:r>
              <a:rPr b="1" sz="1800">
                <a:solidFill>
                  <a:srgbClr val="0286C3"/>
                </a:solidFill>
                <a:latin typeface="Calibri"/>
              </a:rPr>
              <a:t>Eloquent ORM Bawaan:</a:t>
            </a:r>
            <a:r>
              <a:rPr sz="1800">
                <a:solidFill>
                  <a:srgbClr val="1B1E28"/>
                </a:solidFill>
                <a:latin typeface="Calibri"/>
              </a:rPr>
              <a:t> Hubungan relasi antartabel dapat dideklarasikan dengan mudah lewat relasi hasMany dan belongsTo.</a:t>
            </a:r>
          </a:p>
          <a:p>
            <a:pPr>
              <a:spcBef>
                <a:spcPts val="800"/>
              </a:spcBef>
            </a:pPr>
            <a:r>
              <a:rPr b="1" sz="1800">
                <a:solidFill>
                  <a:srgbClr val="0286C3"/>
                </a:solidFill>
                <a:latin typeface="Calibri"/>
              </a:rPr>
              <a:t>Ekosistem Pengembangan Cepat:</a:t>
            </a:r>
            <a:r>
              <a:rPr sz="1800">
                <a:solidFill>
                  <a:srgbClr val="1B1E28"/>
                </a:solidFill>
                <a:latin typeface="Calibri"/>
              </a:rPr>
              <a:t> Dilengkapi Artisan CLI, Migrations, dan Seeders untuk replikasi basis data instan.</a:t>
            </a:r>
          </a:p>
          <a:p>
            <a:pPr>
              <a:spcBef>
                <a:spcPts val="800"/>
              </a:spcBef>
            </a:pPr>
            <a:r>
              <a:rPr b="1" sz="1800">
                <a:solidFill>
                  <a:srgbClr val="0286C3"/>
                </a:solidFill>
                <a:latin typeface="Calibri"/>
              </a:rPr>
              <a:t>Keamanan Terintegrasi:</a:t>
            </a:r>
            <a:r>
              <a:rPr sz="1800">
                <a:solidFill>
                  <a:srgbClr val="1B1E28"/>
                </a:solidFill>
                <a:latin typeface="Calibri"/>
              </a:rPr>
              <a:t> Proteksi bawaan dari serangan SQL Injection, Cross-Site Scripting (XSS), dan Cross-Site Request Forgery (CSRF).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1E28"/>
                </a:solidFill>
                <a:latin typeface="Outfit"/>
              </a:defRPr>
            </a:pPr>
            <a:r>
              <a:t>Kelebihan &amp; Kekurangan Laravel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7B897"/>
                </a:solidFill>
                <a:latin typeface="Outfit"/>
              </a:defRPr>
            </a:pPr>
            <a:r>
              <a:t>Kelebihan:</a:t>
            </a:r>
          </a:p>
          <a:p>
            <a:pPr>
              <a:spcBef>
                <a:spcPts val="600"/>
              </a:spcBef>
              <a:defRPr sz="1600">
                <a:solidFill>
                  <a:srgbClr val="1B1E28"/>
                </a:solidFill>
                <a:latin typeface="Calibri"/>
              </a:defRPr>
            </a:pPr>
            <a:r>
              <a:t>✔  Dokumentasi lengkap &amp; komunitas global sangat luas.</a:t>
            </a:r>
          </a:p>
          <a:p>
            <a:pPr>
              <a:spcBef>
                <a:spcPts val="600"/>
              </a:spcBef>
              <a:defRPr sz="1600">
                <a:solidFill>
                  <a:srgbClr val="1B1E28"/>
                </a:solidFill>
                <a:latin typeface="Calibri"/>
              </a:defRPr>
            </a:pPr>
            <a:r>
              <a:t>✔  Mekanisme migrasi database yang mempermudah deployment.</a:t>
            </a:r>
          </a:p>
          <a:p>
            <a:pPr>
              <a:spcBef>
                <a:spcPts val="600"/>
              </a:spcBef>
              <a:defRPr sz="1600">
                <a:solidFill>
                  <a:srgbClr val="1B1E28"/>
                </a:solidFill>
                <a:latin typeface="Calibri"/>
              </a:defRPr>
            </a:pPr>
            <a:r>
              <a:t>✔  Form Request khusus untuk validasi sisi server (Clean Code).</a:t>
            </a:r>
          </a:p>
          <a:p>
            <a:pPr>
              <a:spcBef>
                <a:spcPts val="600"/>
              </a:spcBef>
              <a:defRPr sz="1600">
                <a:solidFill>
                  <a:srgbClr val="1B1E28"/>
                </a:solidFill>
                <a:latin typeface="Calibri"/>
              </a:defRPr>
            </a:pPr>
            <a:r>
              <a:t>✔  Sistem template Engine Blade yang ringan &amp; powerful.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D32F2F"/>
                </a:solidFill>
                <a:latin typeface="Outfit"/>
              </a:defRPr>
            </a:pPr>
            <a:r>
              <a:t>Kekurangan:</a:t>
            </a:r>
          </a:p>
          <a:p>
            <a:pPr>
              <a:spcBef>
                <a:spcPts val="600"/>
              </a:spcBef>
              <a:defRPr sz="1600">
                <a:solidFill>
                  <a:srgbClr val="1B1E28"/>
                </a:solidFill>
                <a:latin typeface="Calibri"/>
              </a:defRPr>
            </a:pPr>
            <a:r>
              <a:t>✘  Lebih berat (overhead performa) dibanding micro-framework.</a:t>
            </a:r>
          </a:p>
          <a:p>
            <a:pPr>
              <a:spcBef>
                <a:spcPts val="600"/>
              </a:spcBef>
              <a:defRPr sz="1600">
                <a:solidFill>
                  <a:srgbClr val="1B1E28"/>
                </a:solidFill>
                <a:latin typeface="Calibri"/>
              </a:defRPr>
            </a:pPr>
            <a:r>
              <a:t>✘  Kurva belajar yang curam untuk pengembang pemula (dependency injection, providers).</a:t>
            </a:r>
          </a:p>
          <a:p>
            <a:pPr>
              <a:spcBef>
                <a:spcPts val="600"/>
              </a:spcBef>
              <a:defRPr sz="1600">
                <a:solidFill>
                  <a:srgbClr val="1B1E28"/>
                </a:solidFill>
                <a:latin typeface="Calibri"/>
              </a:defRPr>
            </a:pPr>
            <a:r>
              <a:t>✘  Rentan lambat jika query ORM tidak dioptimasi (N+1 query problem, diselesaikan dengan method 'with').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1E28"/>
                </a:solidFill>
                <a:latin typeface="Outfit"/>
              </a:defRPr>
            </a:pPr>
            <a:r>
              <a:t>Skema Database &amp; Relasi Tabel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B1E28"/>
                </a:solidFill>
                <a:latin typeface="Calibri"/>
              </a:defRPr>
            </a:pPr>
            <a:r>
              <a:t>Implementasi minimal 1 tabel dengan relasi (Sesuai Ketentuan Tugas):</a:t>
            </a:r>
          </a:p>
          <a:p>
            <a:pPr>
              <a:spcBef>
                <a:spcPts val="800"/>
              </a:spcBef>
              <a:defRPr sz="1800">
                <a:solidFill>
                  <a:srgbClr val="1B1E28"/>
                </a:solidFill>
                <a:latin typeface="Calibri"/>
              </a:defRPr>
            </a:pPr>
            <a:r>
              <a:t>•  Tabel 'jurusans' (Master Data): Menyimpan nama program studi dan biaya semester dasar (nama_jurusan, biaya_semester).</a:t>
            </a:r>
          </a:p>
          <a:p>
            <a:pPr>
              <a:spcBef>
                <a:spcPts val="800"/>
              </a:spcBef>
              <a:defRPr sz="1800">
                <a:solidFill>
                  <a:srgbClr val="1B1E28"/>
                </a:solidFill>
                <a:latin typeface="Calibri"/>
              </a:defRPr>
            </a:pPr>
            <a:r>
              <a:t>•  Tabel 'mahasiswas' (Data Transaksional): Menyimpan nim, nama, biaya_kuliah, dan foreign key 'jurusan_id'.</a:t>
            </a:r>
          </a:p>
          <a:p>
            <a:pPr>
              <a:spcBef>
                <a:spcPts val="800"/>
              </a:spcBef>
              <a:defRPr sz="1800">
                <a:solidFill>
                  <a:srgbClr val="1B1E28"/>
                </a:solidFill>
                <a:latin typeface="Calibri"/>
              </a:defRPr>
            </a:pPr>
            <a:r>
              <a:t>•  Relasi (1-to-Many): Satu Jurusan memiliki banyak Mahasiswa (hasMany). Satu Mahasiswa terikat pada satu Jurusan (belongsTo).</a:t>
            </a:r>
          </a:p>
          <a:p>
            <a:pPr>
              <a:spcBef>
                <a:spcPts val="800"/>
              </a:spcBef>
              <a:defRPr sz="1800">
                <a:solidFill>
                  <a:srgbClr val="1B1E28"/>
                </a:solidFill>
                <a:latin typeface="Calibri"/>
              </a:defRPr>
            </a:pPr>
            <a:r>
              <a:t>•  Mengapa Relasi Penting? Untuk memetakan biaya kuliah akhir mahasiswa secara otomatis berdasarkan program studi yang mereka pilih.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1E28"/>
                </a:solidFill>
                <a:latin typeface="Outfit"/>
              </a:defRPr>
            </a:pPr>
            <a:r>
              <a:t>Validasi Server-Side &amp; Kebijakan Keamanan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800">
                <a:solidFill>
                  <a:srgbClr val="0286C3"/>
                </a:solidFill>
                <a:latin typeface="Calibri"/>
              </a:rPr>
              <a:t>Validasi Server-Side Wajib:</a:t>
            </a:r>
            <a:r>
              <a:rPr sz="1800">
                <a:solidFill>
                  <a:srgbClr val="1B1E28"/>
                </a:solidFill>
                <a:latin typeface="Calibri"/>
              </a:rPr>
              <a:t> Diimplementasikan melalui Form Request (StoreMahasiswaRequest &amp; UpdateMahasiswaRequest) untuk memvalidasi NIM unik, Nama required (min 3 karakter), dan Jurusan valid (exists).</a:t>
            </a:r>
          </a:p>
          <a:p>
            <a:pPr>
              <a:spcBef>
                <a:spcPts val="800"/>
              </a:spcBef>
            </a:pPr>
            <a:r>
              <a:rPr b="1" sz="1800">
                <a:solidFill>
                  <a:srgbClr val="0286C3"/>
                </a:solidFill>
                <a:latin typeface="Calibri"/>
              </a:rPr>
              <a:t>Pemisahan Validasi:</a:t>
            </a:r>
            <a:r>
              <a:rPr sz="1800">
                <a:solidFill>
                  <a:srgbClr val="1B1E28"/>
                </a:solidFill>
                <a:latin typeface="Calibri"/>
              </a:rPr>
              <a:t> Melindungi controller agar hanya memproses data bersih (clean data) yang telah lolos validasi.</a:t>
            </a:r>
          </a:p>
          <a:p>
            <a:pPr>
              <a:spcBef>
                <a:spcPts val="800"/>
              </a:spcBef>
            </a:pPr>
            <a:r>
              <a:rPr b="1" sz="1800">
                <a:solidFill>
                  <a:srgbClr val="0286C3"/>
                </a:solidFill>
                <a:latin typeface="Calibri"/>
              </a:rPr>
              <a:t>Kalkulasi Biaya Aman (Backend Protection):</a:t>
            </a:r>
            <a:r>
              <a:rPr sz="1800">
                <a:solidFill>
                  <a:srgbClr val="1B1E28"/>
                </a:solidFill>
                <a:latin typeface="Calibri"/>
              </a:rPr>
              <a:t> Biaya Kuliah Akhir dihitung dari 'Biaya Semester Jurusan + Biaya Registrasi Rp 250.000'. Proses ini dilakukan di backend demi keamanan data, sehingga user tidak bisa memanipulasi nominal biaya kuliah lewat payload request.</a:t>
            </a:r>
          </a:p>
          <a:p>
            <a:pPr>
              <a:spcBef>
                <a:spcPts val="800"/>
              </a:spcBef>
            </a:pPr>
            <a:r>
              <a:rPr b="1" sz="1800">
                <a:solidFill>
                  <a:srgbClr val="0286C3"/>
                </a:solidFill>
                <a:latin typeface="Calibri"/>
              </a:rPr>
              <a:t>Rate Limiter &amp; CSRF Protection:</a:t>
            </a:r>
            <a:r>
              <a:rPr sz="1800">
                <a:solidFill>
                  <a:srgbClr val="1B1E28"/>
                </a:solidFill>
                <a:latin typeface="Calibri"/>
              </a:rPr>
              <a:t> Rute penulisan data dilindungi rate limiter untuk mencegah spam, dan seluruh form menyertakan token @csrf.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1E28"/>
                </a:solidFill>
                <a:latin typeface="Outfit"/>
              </a:defRPr>
            </a:pPr>
            <a:r>
              <a:t>Demo Antarmuka: Dashboard SIAKAD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800">
                <a:solidFill>
                  <a:srgbClr val="17B897"/>
                </a:solidFill>
                <a:latin typeface="Calibri"/>
              </a:rPr>
              <a:t>Desain Glassmorphism Modern:</a:t>
            </a:r>
            <a:r>
              <a:rPr sz="1800">
                <a:solidFill>
                  <a:srgbClr val="1B1E28"/>
                </a:solidFill>
                <a:latin typeface="Calibri"/>
              </a:rPr>
              <a:t> Latar belakang frosted glass blur dengan border semi-transparan yang premium.</a:t>
            </a:r>
          </a:p>
          <a:p>
            <a:pPr>
              <a:spcBef>
                <a:spcPts val="800"/>
              </a:spcBef>
            </a:pPr>
            <a:r>
              <a:rPr b="1" sz="1800">
                <a:solidFill>
                  <a:srgbClr val="17B897"/>
                </a:solidFill>
                <a:latin typeface="Calibri"/>
              </a:rPr>
              <a:t>Statistik Ringkasan Cepat:</a:t>
            </a:r>
            <a:r>
              <a:rPr sz="1800">
                <a:solidFill>
                  <a:srgbClr val="1B1E28"/>
                </a:solidFill>
                <a:latin typeface="Calibri"/>
              </a:rPr>
              <a:t> Menampilkan total mahasiswa aktif di kampus secara terintegrasi.</a:t>
            </a:r>
          </a:p>
          <a:p>
            <a:pPr>
              <a:spcBef>
                <a:spcPts val="800"/>
              </a:spcBef>
            </a:pPr>
            <a:r>
              <a:rPr b="1" sz="1800">
                <a:solidFill>
                  <a:srgbClr val="17B897"/>
                </a:solidFill>
                <a:latin typeface="Calibri"/>
              </a:rPr>
              <a:t>Distribusi Jurusan (Progress Bars):</a:t>
            </a:r>
            <a:r>
              <a:rPr sz="1800">
                <a:solidFill>
                  <a:srgbClr val="1B1E28"/>
                </a:solidFill>
                <a:latin typeface="Calibri"/>
              </a:rPr>
              <a:t> Visualisasi interaktif sebaran mahasiswa per program studi secara dinamis (menggunakan persentase dari database).</a:t>
            </a:r>
          </a:p>
          <a:p>
            <a:pPr>
              <a:spcBef>
                <a:spcPts val="800"/>
              </a:spcBef>
            </a:pPr>
            <a:r>
              <a:rPr b="1" sz="1800">
                <a:solidFill>
                  <a:srgbClr val="17B897"/>
                </a:solidFill>
                <a:latin typeface="Calibri"/>
              </a:rPr>
              <a:t>Tabel Acuan Biaya Kuliah:</a:t>
            </a:r>
            <a:r>
              <a:rPr sz="1800">
                <a:solidFill>
                  <a:srgbClr val="1B1E28"/>
                </a:solidFill>
                <a:latin typeface="Calibri"/>
              </a:rPr>
              <a:t> Menampilkan biaya semester dasar dan biaya kuliah akhir (termasuk biaya registrasi) di bagian bawah halaman.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1E28"/>
                </a:solidFill>
                <a:latin typeface="Outfit"/>
              </a:defRPr>
            </a:pPr>
            <a:r>
              <a:t>Demo Antarmuka: CRUD Mahasiswa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800">
                <a:solidFill>
                  <a:srgbClr val="0286C3"/>
                </a:solidFill>
                <a:latin typeface="Calibri"/>
              </a:rPr>
              <a:t>Tabel Data Responsif:</a:t>
            </a:r>
            <a:r>
              <a:rPr sz="1800">
                <a:solidFill>
                  <a:srgbClr val="1B1E28"/>
                </a:solidFill>
                <a:latin typeface="Calibri"/>
              </a:rPr>
              <a:t> Grid data yang otomatis menyesuaikan tampilan ponsel, tablet, maupun desktop.</a:t>
            </a:r>
          </a:p>
          <a:p>
            <a:pPr>
              <a:spcBef>
                <a:spcPts val="800"/>
              </a:spcBef>
            </a:pPr>
            <a:r>
              <a:rPr b="1" sz="1800">
                <a:solidFill>
                  <a:srgbClr val="0286C3"/>
                </a:solidFill>
                <a:latin typeface="Calibri"/>
              </a:rPr>
              <a:t>Fitur Pencarian &amp; Filter Jurusan:</a:t>
            </a:r>
            <a:r>
              <a:rPr sz="1800">
                <a:solidFill>
                  <a:srgbClr val="1B1E28"/>
                </a:solidFill>
                <a:latin typeface="Calibri"/>
              </a:rPr>
              <a:t> Memudahkan pencarian mahasiswa berdasarkan nama dan kategori program studi secara instan.</a:t>
            </a:r>
          </a:p>
          <a:p>
            <a:pPr>
              <a:spcBef>
                <a:spcPts val="800"/>
              </a:spcBef>
            </a:pPr>
            <a:r>
              <a:rPr b="1" sz="1800">
                <a:solidFill>
                  <a:srgbClr val="0286C3"/>
                </a:solidFill>
                <a:latin typeface="Calibri"/>
              </a:rPr>
              <a:t>Form Input Modal Terintegrasi:</a:t>
            </a:r>
            <a:r>
              <a:rPr sz="1800">
                <a:solidFill>
                  <a:srgbClr val="1B1E28"/>
                </a:solidFill>
                <a:latin typeface="Calibri"/>
              </a:rPr>
              <a:t> Pengisian form Tambah dan Edit Mahasiswa dilakukan menggunakan modal elegan tanpa reload halaman.</a:t>
            </a:r>
          </a:p>
          <a:p>
            <a:pPr>
              <a:spcBef>
                <a:spcPts val="800"/>
              </a:spcBef>
            </a:pPr>
            <a:r>
              <a:rPr b="1" sz="1800">
                <a:solidFill>
                  <a:srgbClr val="0286C3"/>
                </a:solidFill>
                <a:latin typeface="Calibri"/>
              </a:rPr>
              <a:t>Notifikasi Aksi Sukses (Toast):</a:t>
            </a:r>
            <a:r>
              <a:rPr sz="1800">
                <a:solidFill>
                  <a:srgbClr val="1B1E28"/>
                </a:solidFill>
                <a:latin typeface="Calibri"/>
              </a:rPr>
              <a:t> Menggunakan session flash message Laravel yang muncul sebagai popup sukses saat data ditambahkan, diubah, atau dihapus.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6C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10820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Outfit"/>
              </a:defRPr>
            </a:pPr>
            <a:r>
              <a:t>TERIMA KASIH</a:t>
            </a:r>
            <a:br/>
          </a:p>
          <a:p>
            <a:pPr algn="ctr">
              <a:spcBef>
                <a:spcPts val="1000"/>
              </a:spcBef>
              <a:defRPr sz="2200">
                <a:solidFill>
                  <a:srgbClr val="17B897"/>
                </a:solidFill>
                <a:latin typeface="Outfit"/>
              </a:defRPr>
            </a:pPr>
            <a:r>
              <a:t>Ada Pertanyaan? / Sesi Tanya Jawab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